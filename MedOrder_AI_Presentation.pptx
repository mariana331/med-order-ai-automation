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CE81DC4-4B7F-4348-AF63-8C32BA98837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2D9285-D7A4-40B5-A587-D218005937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E35B2A-FD75-47AC-A1E6-22A105BCE2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A97491-E22D-4870-B7AB-7C5B3889B3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62566C-43A4-4C4F-9D69-A442313B8DD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E07564-2D85-49EE-A683-CBDC24E9033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1248FA-E1C2-41D1-8538-850246C3DA1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2213D9-D86A-4326-A0B2-B5B9D73CDF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468A81-0CA2-4B9A-BCA8-1DEFC1E001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457200" y="164592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0" spc="-1" strike="noStrike">
                <a:solidFill>
                  <a:srgbClr val="ffffff"/>
                </a:solidFill>
                <a:latin typeface="Arial Black"/>
                <a:ea typeface="Arial Black"/>
              </a:rPr>
              <a:t>MedOrder AI</a:t>
            </a:r>
            <a:endParaRPr b="0" lang="en-US" sz="6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57200" y="29260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2c39a"/>
                </a:solidFill>
                <a:latin typeface="Arial"/>
                <a:ea typeface="Arial"/>
              </a:rPr>
              <a:t>AI Automator • Prompt Engineer • AI Agents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3474720" y="2697480"/>
            <a:ext cx="2194200" cy="4536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28090"/>
                </a:solidFill>
                <a:latin typeface="Arial Black"/>
                <a:ea typeface="Arial Black"/>
              </a:rPr>
              <a:t>Ідея проєкту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457200" y="1188720"/>
            <a:ext cx="4114440" cy="34743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731520" y="1463040"/>
            <a:ext cx="3657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Arial"/>
                <a:ea typeface="Arial"/>
              </a:rPr>
              <a:t>Медичний склад «Медком» щодня отримує велику кількість дзвінків від аптек та клієнтів щодо замовлення медичних препаратів.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Arial"/>
                <a:ea typeface="Arial"/>
              </a:rPr>
              <a:t>Для оптимізації цієї роботи було розроблено AI-систему автоматизації обробки дзвінків.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731520" y="32918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28090"/>
                </a:solidFill>
                <a:latin typeface="Calibri"/>
              </a:rPr>
              <a:t>Система дозволяє: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731520" y="365760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автоматично обробляти замовлення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зберігати інформацію про дзвінки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формувати статистику та аналітику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зменшити навантаження на операторів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4846320" y="1188720"/>
            <a:ext cx="3840120" cy="3474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6217920" y="1828800"/>
            <a:ext cx="1096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Calibri"/>
              </a:rPr>
              <a:t>💡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5120640" y="29260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Впровадження проєкту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5120640" y="3383280"/>
            <a:ext cx="3291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2c39a"/>
                </a:solidFill>
                <a:latin typeface="Calibri"/>
              </a:rPr>
              <a:t>Скорочення ручної роботи, оптимізація штату та зменшення витрат компанії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28090"/>
                </a:solidFill>
                <a:latin typeface="Arial Black"/>
                <a:ea typeface="Arial Black"/>
              </a:rPr>
              <a:t>Опис проблеми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457200" y="1188720"/>
            <a:ext cx="1599840" cy="16455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57200" y="137160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⏱️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548640" y="1920240"/>
            <a:ext cx="141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Calibri"/>
              </a:rPr>
              <a:t>Затримки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548640" y="22860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в обробці замовлень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2194560" y="1188720"/>
            <a:ext cx="1599840" cy="16455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2194560" y="137160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❌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2286000" y="1920240"/>
            <a:ext cx="141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Calibri"/>
              </a:rPr>
              <a:t>Помилки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2286000" y="22860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під час запису інформації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3931920" y="1188720"/>
            <a:ext cx="1599840" cy="16455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3931920" y="137160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4023360" y="1920240"/>
            <a:ext cx="141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Calibri"/>
              </a:rPr>
              <a:t>Статистика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4023360" y="22860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складність контролю даних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5669280" y="1188720"/>
            <a:ext cx="1599840" cy="16455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5669280" y="137160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💰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5760720" y="1920240"/>
            <a:ext cx="141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Calibri"/>
              </a:rPr>
              <a:t>Витрати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5760720" y="22860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великі витрати на call-центр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7406640" y="1188720"/>
            <a:ext cx="1599840" cy="16455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7406640" y="137160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📈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9"/>
          <p:cNvSpPr/>
          <p:nvPr/>
        </p:nvSpPr>
        <p:spPr>
          <a:xfrm>
            <a:off x="7498080" y="1920240"/>
            <a:ext cx="141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Calibri"/>
              </a:rPr>
              <a:t>Аналітика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7498080" y="22860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відсутність швидкої аналітики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21"/>
          <p:cNvSpPr/>
          <p:nvPr/>
        </p:nvSpPr>
        <p:spPr>
          <a:xfrm>
            <a:off x="457200" y="3200400"/>
            <a:ext cx="8229240" cy="137124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22"/>
          <p:cNvSpPr/>
          <p:nvPr/>
        </p:nvSpPr>
        <p:spPr>
          <a:xfrm>
            <a:off x="731520" y="338328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✨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Рішення: AI-автоматизація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3"/>
          <p:cNvSpPr/>
          <p:nvPr/>
        </p:nvSpPr>
        <p:spPr>
          <a:xfrm>
            <a:off x="731520" y="384048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Підвищення швидкості обробки звернень, зменшення помилок та оптимізація витрат компанії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28090"/>
                </a:solidFill>
                <a:latin typeface="Arial Black"/>
                <a:ea typeface="Arial Black"/>
              </a:rPr>
              <a:t>Цільова аудиторія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457200" y="1188720"/>
            <a:ext cx="4114440" cy="34743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731520" y="1371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Calibri"/>
              </a:rPr>
              <a:t>🏢 </a:t>
            </a:r>
            <a:r>
              <a:rPr b="1" lang="en-US" sz="1800" spc="-1" strike="noStrike">
                <a:solidFill>
                  <a:srgbClr val="028090"/>
                </a:solidFill>
                <a:latin typeface="Calibri"/>
              </a:rPr>
              <a:t>Компанії та організації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731520" y="1920240"/>
            <a:ext cx="3657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Медичні склади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Аптечні мережі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Фармацевтичні компанії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Call-центри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</a:rPr>
              <a:t>Компанії з великим потоком дзвінків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4846320" y="1188720"/>
            <a:ext cx="3840120" cy="3474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5120640" y="13716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👥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Користувачі системи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5120640" y="1920240"/>
            <a:ext cx="3291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Оператори call-центру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Менеджери з продажу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Керівники компаній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Аналітики та адміністратори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5120640" y="3291840"/>
            <a:ext cx="3291480" cy="4536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5120640" y="347472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2c39a"/>
                </a:solidFill>
                <a:latin typeface="Calibri"/>
              </a:rPr>
              <a:t>Контроль статистики дзвінків та ефективності роботи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28090"/>
                </a:solidFill>
                <a:latin typeface="Arial Black"/>
                <a:ea typeface="Arial Black"/>
              </a:rPr>
              <a:t>Технології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457200" y="1188720"/>
            <a:ext cx="2011320" cy="7311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457200" y="1188720"/>
            <a:ext cx="54360" cy="73116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594360" y="129852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Calibri"/>
              </a:rPr>
              <a:t>n8n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594360" y="160020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Автоматизація workflow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2606040" y="1188720"/>
            <a:ext cx="2011320" cy="7311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2606040" y="1188720"/>
            <a:ext cx="54360" cy="73116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2743200" y="129852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Calibri"/>
              </a:rPr>
              <a:t>OpenAI API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2743200" y="160020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Обробка тексту та AI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4754880" y="1188720"/>
            <a:ext cx="2011320" cy="7311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4754880" y="1188720"/>
            <a:ext cx="54360" cy="73116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4892040" y="129852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Calibri"/>
              </a:rPr>
              <a:t>AssemblyAI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4892040" y="160020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Speech-to-Text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6903720" y="1188720"/>
            <a:ext cx="2011320" cy="7311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6903720" y="1188720"/>
            <a:ext cx="54360" cy="73116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7040880" y="129852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Calibri"/>
              </a:rPr>
              <a:t>Google Sheets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7040880" y="160020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Зберігання даних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7"/>
          <p:cNvSpPr/>
          <p:nvPr/>
        </p:nvSpPr>
        <p:spPr>
          <a:xfrm>
            <a:off x="457200" y="3017520"/>
            <a:ext cx="2011320" cy="7311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8"/>
          <p:cNvSpPr/>
          <p:nvPr/>
        </p:nvSpPr>
        <p:spPr>
          <a:xfrm>
            <a:off x="457200" y="3017520"/>
            <a:ext cx="54360" cy="73116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594360" y="312732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Calibri"/>
              </a:rPr>
              <a:t>HTTP Request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20"/>
          <p:cNvSpPr/>
          <p:nvPr/>
        </p:nvSpPr>
        <p:spPr>
          <a:xfrm>
            <a:off x="594360" y="342900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Інтеграція сервісів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1"/>
          <p:cNvSpPr/>
          <p:nvPr/>
        </p:nvSpPr>
        <p:spPr>
          <a:xfrm>
            <a:off x="2606040" y="3017520"/>
            <a:ext cx="2011320" cy="7311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2"/>
          <p:cNvSpPr/>
          <p:nvPr/>
        </p:nvSpPr>
        <p:spPr>
          <a:xfrm>
            <a:off x="2606040" y="3017520"/>
            <a:ext cx="54360" cy="73116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23"/>
          <p:cNvSpPr/>
          <p:nvPr/>
        </p:nvSpPr>
        <p:spPr>
          <a:xfrm>
            <a:off x="2743200" y="312732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Calibri"/>
              </a:rPr>
              <a:t>AI Agents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4"/>
          <p:cNvSpPr/>
          <p:nvPr/>
        </p:nvSpPr>
        <p:spPr>
          <a:xfrm>
            <a:off x="2743200" y="342900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Автоматичний аналіз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5"/>
          <p:cNvSpPr/>
          <p:nvPr/>
        </p:nvSpPr>
        <p:spPr>
          <a:xfrm>
            <a:off x="4754880" y="3017520"/>
            <a:ext cx="2011320" cy="7311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6"/>
          <p:cNvSpPr/>
          <p:nvPr/>
        </p:nvSpPr>
        <p:spPr>
          <a:xfrm>
            <a:off x="4754880" y="3017520"/>
            <a:ext cx="54360" cy="73116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7"/>
          <p:cNvSpPr/>
          <p:nvPr/>
        </p:nvSpPr>
        <p:spPr>
          <a:xfrm>
            <a:off x="4892040" y="312732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Calibri"/>
              </a:rPr>
              <a:t>JavaScript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8"/>
          <p:cNvSpPr/>
          <p:nvPr/>
        </p:nvSpPr>
        <p:spPr>
          <a:xfrm>
            <a:off x="4892040" y="342900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Обробка даних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9"/>
          <p:cNvSpPr/>
          <p:nvPr/>
        </p:nvSpPr>
        <p:spPr>
          <a:xfrm>
            <a:off x="6903720" y="3017520"/>
            <a:ext cx="2011320" cy="7311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30"/>
          <p:cNvSpPr/>
          <p:nvPr/>
        </p:nvSpPr>
        <p:spPr>
          <a:xfrm>
            <a:off x="6903720" y="3017520"/>
            <a:ext cx="54360" cy="73116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31"/>
          <p:cNvSpPr/>
          <p:nvPr/>
        </p:nvSpPr>
        <p:spPr>
          <a:xfrm>
            <a:off x="7040880" y="312732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Calibri"/>
              </a:rPr>
              <a:t>JSON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32"/>
          <p:cNvSpPr/>
          <p:nvPr/>
        </p:nvSpPr>
        <p:spPr>
          <a:xfrm>
            <a:off x="7040880" y="342900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Формат передачі даних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28090"/>
                </a:solidFill>
                <a:latin typeface="Arial Black"/>
                <a:ea typeface="Arial Black"/>
              </a:rPr>
              <a:t>Архітектура агента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457200" y="10972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293b"/>
                </a:solidFill>
                <a:latin typeface="Calibri"/>
              </a:rPr>
              <a:t>MedOrder AI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0" descr="/mnt/user-data/uploads/1778916079402_image.png"/>
          <p:cNvPicPr/>
          <p:nvPr/>
        </p:nvPicPr>
        <p:blipFill>
          <a:blip r:embed="rId1"/>
          <a:stretch/>
        </p:blipFill>
        <p:spPr>
          <a:xfrm>
            <a:off x="457200" y="1463040"/>
            <a:ext cx="8229240" cy="1096920"/>
          </a:xfrm>
          <a:prstGeom prst="rect">
            <a:avLst/>
          </a:prstGeom>
          <a:ln w="0">
            <a:noFill/>
          </a:ln>
        </p:spPr>
      </p:pic>
      <p:sp>
        <p:nvSpPr>
          <p:cNvPr id="89" name="Text 2"/>
          <p:cNvSpPr/>
          <p:nvPr/>
        </p:nvSpPr>
        <p:spPr>
          <a:xfrm>
            <a:off x="457200" y="28346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293b"/>
                </a:solidFill>
                <a:latin typeface="Calibri"/>
              </a:rPr>
              <a:t>Call AI Agent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Image 1" descr="/mnt/user-data/uploads/1778916140106_image.png"/>
          <p:cNvPicPr/>
          <p:nvPr/>
        </p:nvPicPr>
        <p:blipFill>
          <a:blip r:embed="rId2"/>
          <a:stretch/>
        </p:blipFill>
        <p:spPr>
          <a:xfrm>
            <a:off x="2743200" y="3200400"/>
            <a:ext cx="3429000" cy="160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28090"/>
                </a:solidFill>
                <a:latin typeface="Arial Black"/>
                <a:ea typeface="Arial Black"/>
              </a:rPr>
              <a:t>Розрахунок ROI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"/>
          <p:cNvSpPr/>
          <p:nvPr/>
        </p:nvSpPr>
        <p:spPr>
          <a:xfrm>
            <a:off x="457200" y="1188720"/>
            <a:ext cx="3931560" cy="2011320"/>
          </a:xfrm>
          <a:prstGeom prst="rect">
            <a:avLst/>
          </a:prstGeom>
          <a:solidFill>
            <a:srgbClr val="fee2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640080" y="137160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991b1b"/>
                </a:solidFill>
                <a:latin typeface="Calibri"/>
              </a:rPr>
              <a:t>⛔ </a:t>
            </a:r>
            <a:r>
              <a:rPr b="1" lang="en-US" sz="1800" spc="-1" strike="noStrike">
                <a:solidFill>
                  <a:srgbClr val="991b1b"/>
                </a:solidFill>
                <a:latin typeface="Calibri"/>
              </a:rPr>
              <a:t>Поточний стан (AS-IS)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640080" y="1828800"/>
            <a:ext cx="3565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7f1d1d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7f1d1d"/>
                </a:solidFill>
                <a:latin typeface="Calibri"/>
              </a:rPr>
              <a:t>5 операторів на підприємстві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7f1d1d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7f1d1d"/>
                </a:solidFill>
                <a:latin typeface="Calibri"/>
              </a:rPr>
              <a:t>Не вистачало часу на обробку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7f1d1d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7f1d1d"/>
                </a:solidFill>
                <a:latin typeface="Calibri"/>
              </a:rPr>
              <a:t>Втрата потенційних клієнтів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7f1d1d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7f1d1d"/>
                </a:solidFill>
                <a:latin typeface="Calibri"/>
              </a:rPr>
              <a:t>Великі витрати на утримання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4754880" y="1188720"/>
            <a:ext cx="3931560" cy="2011320"/>
          </a:xfrm>
          <a:prstGeom prst="rect">
            <a:avLst/>
          </a:prstGeom>
          <a:solidFill>
            <a:srgbClr val="d1fa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4937760" y="137160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65f46"/>
                </a:solidFill>
                <a:latin typeface="Calibri"/>
              </a:rPr>
              <a:t>✅ </a:t>
            </a:r>
            <a:r>
              <a:rPr b="1" lang="en-US" sz="1800" spc="-1" strike="noStrike">
                <a:solidFill>
                  <a:srgbClr val="065f46"/>
                </a:solidFill>
                <a:latin typeface="Calibri"/>
              </a:rPr>
              <a:t>Після автоматизації (TO-BE)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4937760" y="1828800"/>
            <a:ext cx="3565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64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64e3b"/>
                </a:solidFill>
                <a:latin typeface="Calibri"/>
              </a:rPr>
              <a:t>Автоматична обробка дзвінків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64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64e3b"/>
                </a:solidFill>
                <a:latin typeface="Calibri"/>
              </a:rPr>
              <a:t>Скорочення штату з 5 до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64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64e3b"/>
                </a:solidFill>
                <a:latin typeface="Calibri"/>
              </a:rPr>
              <a:t>Зменшення витрат на 60%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64e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64e3b"/>
                </a:solidFill>
                <a:latin typeface="Calibri"/>
              </a:rPr>
              <a:t>Утримання клієнтів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457200" y="3474720"/>
            <a:ext cx="8229240" cy="1188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8"/>
          <p:cNvSpPr/>
          <p:nvPr/>
        </p:nvSpPr>
        <p:spPr>
          <a:xfrm>
            <a:off x="640080" y="365760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🚀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Плани масштабування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640080" y="411480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Розширити обробку замовлень через Телеграм бот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Автоматизувати глибшу обробку замовлень та інтеграцію з CRM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Arial Black"/>
                <a:ea typeface="Arial Black"/>
              </a:rPr>
              <a:t>Ключові висновки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1"/>
          <p:cNvSpPr/>
          <p:nvPr/>
        </p:nvSpPr>
        <p:spPr>
          <a:xfrm>
            <a:off x="914400" y="1280160"/>
            <a:ext cx="7314840" cy="6397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1097280" y="14173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2c39a"/>
                </a:solidFill>
                <a:latin typeface="Calibri"/>
              </a:rPr>
              <a:t>01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1828800" y="13532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28090"/>
                </a:solidFill>
                <a:latin typeface="Calibri"/>
              </a:rPr>
              <a:t>Ефективність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1828800" y="160020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AI-система обробляє дзвінки в 3 рази швидше за оператора, зменшуючи час очікування клієнтів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914400" y="2057400"/>
            <a:ext cx="7314840" cy="6397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1097280" y="21945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2c39a"/>
                </a:solidFill>
                <a:latin typeface="Calibri"/>
              </a:rPr>
              <a:t>02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1828800" y="21304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28090"/>
                </a:solidFill>
                <a:latin typeface="Calibri"/>
              </a:rPr>
              <a:t>Економія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1828800" y="237744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Скорочення витрат на 60% завдяки зменшенню штату операторів з 5 до 2 працівників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914400" y="2834640"/>
            <a:ext cx="7314840" cy="6397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1097280" y="297180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2c39a"/>
                </a:solidFill>
                <a:latin typeface="Calibri"/>
              </a:rPr>
              <a:t>03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1828800" y="29077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28090"/>
                </a:solidFill>
                <a:latin typeface="Calibri"/>
              </a:rPr>
              <a:t>Якість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1828800" y="31546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Повна відсутність помилок при записі замовлень та автоматична статистика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13"/>
          <p:cNvSpPr/>
          <p:nvPr/>
        </p:nvSpPr>
        <p:spPr>
          <a:xfrm>
            <a:off x="914400" y="3611880"/>
            <a:ext cx="7314840" cy="6397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1097280" y="374904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2c39a"/>
                </a:solidFill>
                <a:latin typeface="Calibri"/>
              </a:rPr>
              <a:t>04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1828800" y="36849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28090"/>
                </a:solidFill>
                <a:latin typeface="Calibri"/>
              </a:rPr>
              <a:t>Масштабованість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1828800" y="393192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Легка інтеграція з іншими каналами: Телеграм, Email, CRM-системи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457200" y="45720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800" spc="-1" strike="noStrike">
                <a:solidFill>
                  <a:srgbClr val="02c39a"/>
                </a:solidFill>
                <a:latin typeface="Calibri"/>
              </a:rPr>
              <a:t>MedOrder AI — майбутнє автоматизації вже тут! 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LibreOffice/24.2.5.2$Windows_X86_64 LibreOffice_project/bffef4ea93e59bebbeaf7f431bb02b1a39ee8a59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2026-05-16T07:33:59Z</dcterms:created>
  <dc:creator>MedOrder AI Team</dc:creator>
  <dc:description/>
  <dc:language>en-US</dc:language>
  <cp:lastModifiedBy/>
  <dcterms:modified xsi:type="dcterms:W3CDTF">2026-05-16T10:37:02Z</dcterms:modified>
  <cp:revision>2</cp:revision>
  <dc:subject>PptxGenJS Presentation</dc:subject>
  <dc:title>MedOrder AI - Автоматизація дзвінків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